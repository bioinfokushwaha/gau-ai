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64" r:id="rId4"/>
    <p:sldId id="271" r:id="rId5"/>
    <p:sldId id="274" r:id="rId6"/>
    <p:sldId id="272" r:id="rId7"/>
    <p:sldId id="273" r:id="rId8"/>
    <p:sldId id="269" r:id="rId9"/>
    <p:sldId id="270" r:id="rId10"/>
  </p:sldIdLst>
  <p:sldSz cx="12192000" cy="6858000"/>
  <p:notesSz cx="6858000" cy="9144000"/>
  <p:embeddedFontLst>
    <p:embeddedFont>
      <p:font typeface="Cooper Black" panose="0208090404030B020404" pitchFamily="18" charset="0"/>
      <p:regular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2" roundtripDataSignature="AMtx7mjlY9sE8hjKY087Wh1FhgIsdzFE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EFB39A8-E34C-4BEB-9C24-EC04B778EE9B}">
  <a:tblStyle styleId="{BEFB39A8-E34C-4BEB-9C24-EC04B778EE9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C5F2C0C-1ECC-4602-8B1F-616AE99B9C1C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401A447-9CBD-456B-9706-DFAFB1FFFA06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6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254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02" autoAdjust="0"/>
    <p:restoredTop sz="94660"/>
  </p:normalViewPr>
  <p:slideViewPr>
    <p:cSldViewPr snapToGrid="0">
      <p:cViewPr varScale="1">
        <p:scale>
          <a:sx n="126" d="100"/>
          <a:sy n="126" d="100"/>
        </p:scale>
        <p:origin x="891" y="79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7723161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78114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1" name="Google Shape;18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09704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D05AC-3530-9FCB-A57D-5BAA61BE3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B6B555-CD51-088B-8490-B75C23B51E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8B04E1-67E7-9233-6398-19CF0EC7E4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D0DD33-91D0-622E-D93F-E3F1B303C4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4982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FA05E-24BE-71ED-06D2-AFD94B182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7C4FD0-63EC-7315-F814-E941EA377B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E7A1DE-70B7-2D76-0FCF-7BB8E79E35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997E4A-9A08-1F48-444B-040DEB8A82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8194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97D0F-6EC7-0286-EBBC-F1587BA9C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76E48E-0324-C524-DA75-2DA4D13CF6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665588-3DBC-5262-0AC2-BBA22C716F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9B22F1-3B94-FD5C-6F68-93777DB169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7770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53C68-8512-B9B6-FD08-224E14037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B030C5-B929-7C58-4423-39475B45F1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0273EA-A127-7F54-17C0-D9792B2906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76376E-90C4-EBE6-BE76-0ED0F56453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4562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4B510-61F7-C9C4-7862-98A97D684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8F30E7-8E3A-8768-BDBF-AC6DCC072F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5954FF-6789-8361-3AC2-7E44BDB029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F8E285-8116-73CF-72AC-0A7E185DEF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1971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>
          <a:extLst>
            <a:ext uri="{FF2B5EF4-FFF2-40B4-BE49-F238E27FC236}">
              <a16:creationId xmlns:a16="http://schemas.microsoft.com/office/drawing/2014/main" id="{6B3B3B45-FE1B-682D-6F2B-554F8535C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:notes">
            <a:extLst>
              <a:ext uri="{FF2B5EF4-FFF2-40B4-BE49-F238E27FC236}">
                <a16:creationId xmlns:a16="http://schemas.microsoft.com/office/drawing/2014/main" id="{56D4123C-7C06-54FF-3167-7104E9BE9D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1" name="Google Shape;181;p3:notes">
            <a:extLst>
              <a:ext uri="{FF2B5EF4-FFF2-40B4-BE49-F238E27FC236}">
                <a16:creationId xmlns:a16="http://schemas.microsoft.com/office/drawing/2014/main" id="{092ED5D9-F904-560B-77C9-0F32E2AB64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77271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4" name="Google Shape;64;p2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6174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emf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ioinfokushwaha/GAU-AI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bioinfo.niab.org.in/GAUNe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"/>
          <p:cNvSpPr txBox="1"/>
          <p:nvPr/>
        </p:nvSpPr>
        <p:spPr>
          <a:xfrm>
            <a:off x="29360" y="1674921"/>
            <a:ext cx="12162640" cy="751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GB" sz="2000" b="1" i="0" u="none" strike="noStrike" cap="none" dirty="0">
                <a:solidFill>
                  <a:srgbClr val="002060"/>
                </a:solidFill>
                <a:latin typeface="Cooper Black" panose="0208090404030B020404" pitchFamily="18" charset="0"/>
                <a:ea typeface="Calibri"/>
                <a:cs typeface="Calibri"/>
                <a:sym typeface="Calibri"/>
              </a:rPr>
              <a:t>VALIDATION OF DBT- NIAB SNP CHIP FOR BREED IDENTIFICATION AND PRELIMINARY GENOME-WIDE ASSOCIATION STUDIES OF MILK YIELD</a:t>
            </a:r>
            <a:endParaRPr lang="en-GB" sz="2000" b="1" dirty="0">
              <a:solidFill>
                <a:srgbClr val="002060"/>
              </a:solidFill>
              <a:latin typeface="Cooper Black" panose="0208090404030B0204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4F30B7-2829-4E23-ADEA-C3C5E7C01233}"/>
              </a:ext>
            </a:extLst>
          </p:cNvPr>
          <p:cNvPicPr>
            <a:picLocks/>
          </p:cNvPicPr>
          <p:nvPr/>
        </p:nvPicPr>
        <p:blipFill>
          <a:blip r:embed="rId3"/>
          <a:srcRect l="1647" t="4269" r="3570" b="83385"/>
          <a:stretch>
            <a:fillRect/>
          </a:stretch>
        </p:blipFill>
        <p:spPr>
          <a:xfrm>
            <a:off x="1421234" y="3563400"/>
            <a:ext cx="9492842" cy="126026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CBF6FDE-4BED-AC85-8B5D-6AEC0EDC72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4118" y="127748"/>
            <a:ext cx="4206605" cy="97889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BFA076-2E72-8486-AEE8-06F1A60134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9" y="463304"/>
            <a:ext cx="9101546" cy="629174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19CBF44-2468-8BEB-55D0-F0436D625F9D}"/>
              </a:ext>
            </a:extLst>
          </p:cNvPr>
          <p:cNvSpPr txBox="1"/>
          <p:nvPr/>
        </p:nvSpPr>
        <p:spPr>
          <a:xfrm>
            <a:off x="9165032" y="642879"/>
            <a:ext cx="294028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</a:pPr>
            <a:r>
              <a:rPr lang="en-US" sz="1200" b="1" dirty="0"/>
              <a:t>Objective 1 </a:t>
            </a:r>
          </a:p>
          <a:p>
            <a:pPr lvl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</a:pPr>
            <a:r>
              <a:rPr lang="en-US" sz="1200" dirty="0"/>
              <a:t>To validate the DBT-NIAB_Hdchip for its ability to identify purebreds in a larger population and to segregate purebreds from crossbreds.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CEB917-92F1-3DC2-80C8-55CE16736CE3}"/>
              </a:ext>
            </a:extLst>
          </p:cNvPr>
          <p:cNvSpPr txBox="1"/>
          <p:nvPr/>
        </p:nvSpPr>
        <p:spPr>
          <a:xfrm>
            <a:off x="9106445" y="2764203"/>
            <a:ext cx="3034256" cy="75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</a:pPr>
            <a:r>
              <a:rPr lang="en-US" sz="1200" b="1" dirty="0"/>
              <a:t>Objective 2 </a:t>
            </a:r>
          </a:p>
          <a:p>
            <a:pPr algn="just">
              <a:lnSpc>
                <a:spcPct val="90000"/>
              </a:lnSpc>
              <a:buClr>
                <a:schemeClr val="dk1"/>
              </a:buClr>
              <a:buSzPts val="1900"/>
            </a:pPr>
            <a:r>
              <a:rPr lang="en-US" sz="1200" dirty="0"/>
              <a:t>To identify SNPs that are associated with milk yield in Indigenous breeds: Sahiwal, Tharparkar, Gir, Kankrej and Ongole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630271-C587-3A13-5BD8-398D1E41EAF3}"/>
              </a:ext>
            </a:extLst>
          </p:cNvPr>
          <p:cNvSpPr txBox="1"/>
          <p:nvPr/>
        </p:nvSpPr>
        <p:spPr>
          <a:xfrm>
            <a:off x="9106445" y="4703939"/>
            <a:ext cx="299886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rtl="0">
              <a:spcAft>
                <a:spcPts val="0"/>
              </a:spcAft>
              <a:buClr>
                <a:schemeClr val="dk1"/>
              </a:buClr>
              <a:buSzPts val="1900"/>
            </a:pPr>
            <a:r>
              <a:rPr lang="en-US" sz="1200" b="1" dirty="0"/>
              <a:t>Objective 3 </a:t>
            </a:r>
          </a:p>
          <a:p>
            <a:pPr lvl="0" algn="just">
              <a:buClr>
                <a:schemeClr val="dk1"/>
              </a:buClr>
              <a:buSzPts val="1800"/>
            </a:pPr>
            <a:r>
              <a:rPr lang="en-US" sz="1200" dirty="0"/>
              <a:t>To identify genotypes that can be imputed between the NDDB Indus chip and the NIAB HD chip for enhancing the ability of the </a:t>
            </a:r>
            <a:r>
              <a:rPr lang="en-US" sz="1200" dirty="0" err="1"/>
              <a:t>NDDB_IndusChip</a:t>
            </a:r>
            <a:r>
              <a:rPr lang="en-US" sz="1200" dirty="0"/>
              <a:t>.</a:t>
            </a:r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19D9504F-4771-4BCC-F6C1-7AD434BE609A}"/>
              </a:ext>
            </a:extLst>
          </p:cNvPr>
          <p:cNvSpPr/>
          <p:nvPr/>
        </p:nvSpPr>
        <p:spPr>
          <a:xfrm>
            <a:off x="0" y="0"/>
            <a:ext cx="12192000" cy="463304"/>
          </a:xfrm>
          <a:prstGeom prst="rect">
            <a:avLst/>
          </a:prstGeom>
          <a:solidFill>
            <a:schemeClr val="accent5">
              <a:lumMod val="50000"/>
            </a:schemeClr>
          </a:solidFill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Objective</a:t>
            </a:r>
            <a:endParaRPr lang="en-US" sz="2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7384"/>
            <a:ext cx="12192000" cy="645715"/>
          </a:xfrm>
          <a:prstGeom prst="rect">
            <a:avLst/>
          </a:prstGeom>
          <a:solidFill>
            <a:schemeClr val="accent5">
              <a:lumMod val="50000"/>
            </a:schemeClr>
          </a:solidFill>
          <a:ln/>
        </p:spPr>
        <p:txBody>
          <a:bodyPr wrap="square" rtlCol="0" anchor="ctr">
            <a:noAutofit/>
          </a:bodyPr>
          <a:lstStyle/>
          <a:p>
            <a:pPr algn="just"/>
            <a:endParaRPr lang="en-US" sz="1800" b="1" dirty="0">
              <a:solidFill>
                <a:schemeClr val="bg1"/>
              </a:solidFill>
            </a:endParaRPr>
          </a:p>
          <a:p>
            <a:pPr algn="just"/>
            <a:r>
              <a:rPr lang="en-US" sz="1800" b="1" dirty="0">
                <a:solidFill>
                  <a:schemeClr val="bg1"/>
                </a:solidFill>
              </a:rPr>
              <a:t>Objective 1 : To validate the DBT-</a:t>
            </a:r>
            <a:r>
              <a:rPr lang="en-US" sz="1800" b="1" dirty="0" err="1">
                <a:solidFill>
                  <a:schemeClr val="bg1"/>
                </a:solidFill>
              </a:rPr>
              <a:t>NIAB_Hdchip</a:t>
            </a:r>
            <a:r>
              <a:rPr lang="en-US" sz="1800" b="1" dirty="0">
                <a:solidFill>
                  <a:schemeClr val="bg1"/>
                </a:solidFill>
              </a:rPr>
              <a:t> for its ability to identify purebreds in a larger population and to segregate purebreds from crossbreds.</a:t>
            </a:r>
          </a:p>
          <a:p>
            <a:pPr algn="ctr"/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81672" y="502481"/>
            <a:ext cx="11887199" cy="40011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/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08080"/>
                </a:solidFill>
              </a:rPr>
              <a:t>3</a:t>
            </a:r>
            <a:endParaRPr lang="en-US" sz="7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6E1FFF0-0833-18A1-2BF5-F35361CF13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2976" y="727272"/>
            <a:ext cx="3953831" cy="252296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3A1E6BE-235C-E32A-4454-6EE093A85F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5542" y="3429000"/>
            <a:ext cx="4185597" cy="2971800"/>
          </a:xfrm>
          <a:prstGeom prst="rect">
            <a:avLst/>
          </a:prstGeom>
        </p:spPr>
      </p:pic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A1A622C6-B3ED-20C8-A921-A3D9C12800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5124907"/>
              </p:ext>
            </p:extLst>
          </p:nvPr>
        </p:nvGraphicFramePr>
        <p:xfrm>
          <a:off x="142931" y="737016"/>
          <a:ext cx="6114859" cy="2347647"/>
        </p:xfrm>
        <a:graphic>
          <a:graphicData uri="http://schemas.openxmlformats.org/drawingml/2006/table">
            <a:tbl>
              <a:tblPr firstRow="1" firstCol="1" bandRow="1">
                <a:tableStyleId>{BEFB39A8-E34C-4BEB-9C24-EC04B778EE9B}</a:tableStyleId>
              </a:tblPr>
              <a:tblGrid>
                <a:gridCol w="1082424">
                  <a:extLst>
                    <a:ext uri="{9D8B030D-6E8A-4147-A177-3AD203B41FA5}">
                      <a16:colId xmlns:a16="http://schemas.microsoft.com/office/drawing/2014/main" val="2748157074"/>
                    </a:ext>
                  </a:extLst>
                </a:gridCol>
                <a:gridCol w="919632">
                  <a:extLst>
                    <a:ext uri="{9D8B030D-6E8A-4147-A177-3AD203B41FA5}">
                      <a16:colId xmlns:a16="http://schemas.microsoft.com/office/drawing/2014/main" val="2804291567"/>
                    </a:ext>
                  </a:extLst>
                </a:gridCol>
                <a:gridCol w="899649">
                  <a:extLst>
                    <a:ext uri="{9D8B030D-6E8A-4147-A177-3AD203B41FA5}">
                      <a16:colId xmlns:a16="http://schemas.microsoft.com/office/drawing/2014/main" val="2054014966"/>
                    </a:ext>
                  </a:extLst>
                </a:gridCol>
                <a:gridCol w="1036687">
                  <a:extLst>
                    <a:ext uri="{9D8B030D-6E8A-4147-A177-3AD203B41FA5}">
                      <a16:colId xmlns:a16="http://schemas.microsoft.com/office/drawing/2014/main" val="4039733883"/>
                    </a:ext>
                  </a:extLst>
                </a:gridCol>
                <a:gridCol w="1035959">
                  <a:extLst>
                    <a:ext uri="{9D8B030D-6E8A-4147-A177-3AD203B41FA5}">
                      <a16:colId xmlns:a16="http://schemas.microsoft.com/office/drawing/2014/main" val="3782200428"/>
                    </a:ext>
                  </a:extLst>
                </a:gridCol>
                <a:gridCol w="1140508">
                  <a:extLst>
                    <a:ext uri="{9D8B030D-6E8A-4147-A177-3AD203B41FA5}">
                      <a16:colId xmlns:a16="http://schemas.microsoft.com/office/drawing/2014/main" val="3082341099"/>
                    </a:ext>
                  </a:extLst>
                </a:gridCol>
              </a:tblGrid>
              <a:tr h="5855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effectLst/>
                        </a:rPr>
                        <a:t>Breed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effectLst/>
                        </a:rPr>
                        <a:t>Targeted Number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effectLst/>
                        </a:rPr>
                        <a:t>Blood Samples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effectLst/>
                        </a:rPr>
                        <a:t>DNA Extracted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Rejected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Genotyped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9135877"/>
                  </a:ext>
                </a:extLst>
              </a:tr>
              <a:tr h="2834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Gir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1000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effectLst/>
                        </a:rPr>
                        <a:t>1681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effectLst/>
                        </a:rPr>
                        <a:t>1587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560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1027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7957313"/>
                  </a:ext>
                </a:extLst>
              </a:tr>
              <a:tr h="3021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Sahiwal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effectLst/>
                        </a:rPr>
                        <a:t>1000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effectLst/>
                        </a:rPr>
                        <a:t>1227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1188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183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1005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0668765"/>
                  </a:ext>
                </a:extLst>
              </a:tr>
              <a:tr h="2834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Kankrej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1000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effectLst/>
                        </a:rPr>
                        <a:t>1218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effectLst/>
                        </a:rPr>
                        <a:t>1198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267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effectLst/>
                        </a:rPr>
                        <a:t>931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9668277"/>
                  </a:ext>
                </a:extLst>
              </a:tr>
              <a:tr h="2952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Tharparkar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500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effectLst/>
                        </a:rPr>
                        <a:t>535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effectLst/>
                        </a:rPr>
                        <a:t>527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effectLst/>
                        </a:rPr>
                        <a:t>22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effectLst/>
                        </a:rPr>
                        <a:t>505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997913"/>
                  </a:ext>
                </a:extLst>
              </a:tr>
              <a:tr h="3144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Ongole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500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effectLst/>
                        </a:rPr>
                        <a:t>463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452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effectLst/>
                        </a:rPr>
                        <a:t>5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447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658896"/>
                  </a:ext>
                </a:extLst>
              </a:tr>
              <a:tr h="2834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Total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effectLst/>
                        </a:rPr>
                        <a:t>4000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5,124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effectLst/>
                        </a:rPr>
                        <a:t>4952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effectLst/>
                        </a:rPr>
                        <a:t>1037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effectLst/>
                        </a:rPr>
                        <a:t>3915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963122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1539A940-6A40-268A-BC93-548420C0C3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931" y="3250238"/>
            <a:ext cx="6344542" cy="332353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6D082-5E0A-23E6-3A78-FB1795747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7">
            <a:extLst>
              <a:ext uri="{FF2B5EF4-FFF2-40B4-BE49-F238E27FC236}">
                <a16:creationId xmlns:a16="http://schemas.microsoft.com/office/drawing/2014/main" id="{D319E7C4-DDF0-9AFC-3B85-A266AD4A28E7}"/>
              </a:ext>
            </a:extLst>
          </p:cNvPr>
          <p:cNvSpPr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08080"/>
                </a:solidFill>
              </a:rPr>
              <a:t>3</a:t>
            </a:r>
            <a:endParaRPr lang="en-US" sz="750" dirty="0"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B2733CFD-3D33-EEB6-B59A-015DF7FAA5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836" y="1224315"/>
            <a:ext cx="4893537" cy="299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5" name="Picture 1">
            <a:extLst>
              <a:ext uri="{FF2B5EF4-FFF2-40B4-BE49-F238E27FC236}">
                <a16:creationId xmlns:a16="http://schemas.microsoft.com/office/drawing/2014/main" id="{A86766DA-3175-EB08-8772-C0FEF4BB72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1811" y="860357"/>
            <a:ext cx="5799875" cy="60820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87B50DE-8299-C04E-F78B-3496ED075C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6608" y="659827"/>
            <a:ext cx="7199556" cy="5399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070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6B7BF-18B9-D4F2-39D0-9BAE1D4CB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7">
            <a:extLst>
              <a:ext uri="{FF2B5EF4-FFF2-40B4-BE49-F238E27FC236}">
                <a16:creationId xmlns:a16="http://schemas.microsoft.com/office/drawing/2014/main" id="{7C7B0B5E-4CA0-875E-EFCA-B32B61CEABB1}"/>
              </a:ext>
            </a:extLst>
          </p:cNvPr>
          <p:cNvSpPr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08080"/>
                </a:solidFill>
              </a:rPr>
              <a:t>3</a:t>
            </a:r>
            <a:endParaRPr lang="en-US" sz="750" dirty="0"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2B862D9A-2E67-9AF9-C47A-D4D19692EE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836" y="1224315"/>
            <a:ext cx="4893537" cy="299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29EF33C-707E-B32A-5FEF-85A115B90E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9486" y="346693"/>
            <a:ext cx="4698234" cy="640513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23602B7-C4E3-DF6C-D061-AF31F8E34F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7194" y="550373"/>
            <a:ext cx="4836354" cy="6132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004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CF6E7-5CB8-B3A1-6CBB-153E8C87C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810A098-89C9-4795-E2A8-F5BF69CDBCD3}"/>
              </a:ext>
            </a:extLst>
          </p:cNvPr>
          <p:cNvSpPr/>
          <p:nvPr/>
        </p:nvSpPr>
        <p:spPr>
          <a:xfrm>
            <a:off x="0" y="0"/>
            <a:ext cx="12192000" cy="463304"/>
          </a:xfrm>
          <a:prstGeom prst="rect">
            <a:avLst/>
          </a:prstGeom>
          <a:solidFill>
            <a:schemeClr val="accent5">
              <a:lumMod val="50000"/>
            </a:schemeClr>
          </a:solidFill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 -1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FF49D55A-0E78-48A6-8A2F-9CCCE7082B6D}"/>
              </a:ext>
            </a:extLst>
          </p:cNvPr>
          <p:cNvSpPr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08080"/>
                </a:solidFill>
              </a:rPr>
              <a:t>3</a:t>
            </a:r>
            <a:endParaRPr lang="en-US" sz="750" dirty="0"/>
          </a:p>
        </p:txBody>
      </p:sp>
      <p:pic>
        <p:nvPicPr>
          <p:cNvPr id="9" name="Picture 9" descr="C:\DATA\Fifth_Year\Objective1\Quantitative_PurityClassification.png">
            <a:extLst>
              <a:ext uri="{FF2B5EF4-FFF2-40B4-BE49-F238E27FC236}">
                <a16:creationId xmlns:a16="http://schemas.microsoft.com/office/drawing/2014/main" id="{61D80C76-3660-A9A9-A729-5D504F63CB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8830" y="878244"/>
            <a:ext cx="5587153" cy="2610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6CADC9B-590F-6B94-847C-D593B3A841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4685914"/>
              </p:ext>
            </p:extLst>
          </p:nvPr>
        </p:nvGraphicFramePr>
        <p:xfrm>
          <a:off x="5910879" y="3903616"/>
          <a:ext cx="5956184" cy="2643488"/>
        </p:xfrm>
        <a:graphic>
          <a:graphicData uri="http://schemas.openxmlformats.org/drawingml/2006/table">
            <a:tbl>
              <a:tblPr firstRow="1" firstCol="1" bandRow="1">
                <a:tableStyleId>{BEFB39A8-E34C-4BEB-9C24-EC04B778EE9B}</a:tableStyleId>
              </a:tblPr>
              <a:tblGrid>
                <a:gridCol w="1078068">
                  <a:extLst>
                    <a:ext uri="{9D8B030D-6E8A-4147-A177-3AD203B41FA5}">
                      <a16:colId xmlns:a16="http://schemas.microsoft.com/office/drawing/2014/main" val="2748157074"/>
                    </a:ext>
                  </a:extLst>
                </a:gridCol>
                <a:gridCol w="966372">
                  <a:extLst>
                    <a:ext uri="{9D8B030D-6E8A-4147-A177-3AD203B41FA5}">
                      <a16:colId xmlns:a16="http://schemas.microsoft.com/office/drawing/2014/main" val="2804291567"/>
                    </a:ext>
                  </a:extLst>
                </a:gridCol>
                <a:gridCol w="604313">
                  <a:extLst>
                    <a:ext uri="{9D8B030D-6E8A-4147-A177-3AD203B41FA5}">
                      <a16:colId xmlns:a16="http://schemas.microsoft.com/office/drawing/2014/main" val="2054014966"/>
                    </a:ext>
                  </a:extLst>
                </a:gridCol>
                <a:gridCol w="1190899">
                  <a:extLst>
                    <a:ext uri="{9D8B030D-6E8A-4147-A177-3AD203B41FA5}">
                      <a16:colId xmlns:a16="http://schemas.microsoft.com/office/drawing/2014/main" val="4039733883"/>
                    </a:ext>
                  </a:extLst>
                </a:gridCol>
                <a:gridCol w="1131201">
                  <a:extLst>
                    <a:ext uri="{9D8B030D-6E8A-4147-A177-3AD203B41FA5}">
                      <a16:colId xmlns:a16="http://schemas.microsoft.com/office/drawing/2014/main" val="3782200428"/>
                    </a:ext>
                  </a:extLst>
                </a:gridCol>
                <a:gridCol w="985331">
                  <a:extLst>
                    <a:ext uri="{9D8B030D-6E8A-4147-A177-3AD203B41FA5}">
                      <a16:colId xmlns:a16="http://schemas.microsoft.com/office/drawing/2014/main" val="3082341099"/>
                    </a:ext>
                  </a:extLst>
                </a:gridCol>
              </a:tblGrid>
              <a:tr h="424366">
                <a:tc rowSpan="2"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Breed</a:t>
                      </a:r>
                      <a:endParaRPr lang="en-IN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Times New Roman" panose="02020603050405020304" pitchFamily="18" charset="0"/>
                        <a:cs typeface="Arial"/>
                        <a:sym typeface="Arial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 panose="02020603050405020304" pitchFamily="18" charset="0"/>
                          <a:cs typeface="Arial"/>
                          <a:sym typeface="Arial"/>
                        </a:rPr>
                        <a:t>Genotype</a:t>
                      </a:r>
                    </a:p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 panose="02020603050405020304" pitchFamily="18" charset="0"/>
                          <a:cs typeface="Arial"/>
                          <a:sym typeface="Arial"/>
                        </a:rPr>
                        <a:t>(After QC)</a:t>
                      </a:r>
                      <a:endParaRPr lang="en-IN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Times New Roman" panose="02020603050405020304" pitchFamily="18" charset="0"/>
                        <a:cs typeface="Arial"/>
                        <a:sym typeface="Arial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Purebred</a:t>
                      </a: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Crossbred</a:t>
                      </a:r>
                      <a:endParaRPr lang="en-IN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8580" marR="6858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9135877"/>
                  </a:ext>
                </a:extLst>
              </a:tr>
              <a:tr h="722836">
                <a:tc vMerge="1"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IN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Times New Roman" panose="02020603050405020304" pitchFamily="18" charset="0"/>
                        <a:cs typeface="Arial"/>
                        <a:sym typeface="Arial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IN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Times New Roman" panose="02020603050405020304" pitchFamily="18" charset="0"/>
                        <a:cs typeface="Arial"/>
                        <a:sym typeface="Arial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 panose="02020603050405020304" pitchFamily="18" charset="0"/>
                          <a:cs typeface="Arial"/>
                          <a:sym typeface="Arial"/>
                        </a:rPr>
                        <a:t>Pure</a:t>
                      </a:r>
                      <a:endParaRPr lang="en-IN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Times New Roman" panose="02020603050405020304" pitchFamily="18" charset="0"/>
                        <a:cs typeface="Arial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 panose="02020603050405020304" pitchFamily="18" charset="0"/>
                          <a:cs typeface="Arial"/>
                          <a:sym typeface="Arial"/>
                        </a:rPr>
                        <a:t>Predominant</a:t>
                      </a:r>
                      <a:endParaRPr lang="en-IN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Times New Roman" panose="02020603050405020304" pitchFamily="18" charset="0"/>
                        <a:cs typeface="Arial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Admixture</a:t>
                      </a:r>
                      <a:endParaRPr lang="en-IN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Times New Roman" panose="02020603050405020304" pitchFamily="18" charset="0"/>
                        <a:cs typeface="Arial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Times New Roman" panose="02020603050405020304" pitchFamily="18" charset="0"/>
                          <a:cs typeface="Arial"/>
                          <a:sym typeface="Arial"/>
                        </a:rPr>
                        <a:t>Highly Admixture</a:t>
                      </a:r>
                      <a:endParaRPr lang="en-IN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Times New Roman" panose="02020603050405020304" pitchFamily="18" charset="0"/>
                        <a:cs typeface="Arial"/>
                        <a:sym typeface="Arial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7957313"/>
                  </a:ext>
                </a:extLst>
              </a:tr>
              <a:tr h="249381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Gir</a:t>
                      </a:r>
                      <a:endParaRPr lang="en-IN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Times New Roman" panose="02020603050405020304" pitchFamily="18" charset="0"/>
                        <a:cs typeface="Arial"/>
                        <a:sym typeface="Arial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Calibri" panose="020F0502020204030204" pitchFamily="34" charset="0"/>
                          <a:cs typeface="Arial"/>
                          <a:sym typeface="Arial"/>
                        </a:rPr>
                        <a:t>1021</a:t>
                      </a:r>
                      <a:endParaRPr lang="en-IN" sz="1100" b="0" i="0" u="none" strike="noStrike" cap="none">
                        <a:solidFill>
                          <a:srgbClr val="000000"/>
                        </a:solidFill>
                        <a:effectLst/>
                        <a:latin typeface="Arial"/>
                        <a:ea typeface="Calibri" panose="020F0502020204030204" pitchFamily="34" charset="0"/>
                        <a:cs typeface="Arial"/>
                        <a:sym typeface="Arial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Calibri" panose="020F0502020204030204" pitchFamily="34" charset="0"/>
                          <a:cs typeface="Arial"/>
                          <a:sym typeface="Arial"/>
                        </a:rPr>
                        <a:t>121</a:t>
                      </a:r>
                      <a:endParaRPr lang="en-IN" sz="1100" b="0" i="0" u="none" strike="noStrike" cap="none">
                        <a:solidFill>
                          <a:srgbClr val="000000"/>
                        </a:solidFill>
                        <a:effectLst/>
                        <a:latin typeface="Arial"/>
                        <a:ea typeface="Calibri" panose="020F0502020204030204" pitchFamily="34" charset="0"/>
                        <a:cs typeface="Arial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Calibri" panose="020F0502020204030204" pitchFamily="34" charset="0"/>
                          <a:cs typeface="Arial"/>
                          <a:sym typeface="Arial"/>
                        </a:rPr>
                        <a:t>376</a:t>
                      </a:r>
                      <a:endParaRPr lang="en-IN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Times New Roman" panose="02020603050405020304" pitchFamily="18" charset="0"/>
                        <a:cs typeface="Arial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Calibri" panose="020F0502020204030204" pitchFamily="34" charset="0"/>
                          <a:cs typeface="Arial"/>
                          <a:sym typeface="Arial"/>
                        </a:rPr>
                        <a:t>524</a:t>
                      </a:r>
                      <a:endParaRPr lang="en-IN" sz="1100" b="0" i="0" u="none" strike="noStrike" cap="none">
                        <a:solidFill>
                          <a:srgbClr val="000000"/>
                        </a:solidFill>
                        <a:effectLst/>
                        <a:latin typeface="Arial"/>
                        <a:ea typeface="Times New Roman" panose="02020603050405020304" pitchFamily="18" charset="0"/>
                        <a:cs typeface="Arial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Calibri" panose="020F0502020204030204" pitchFamily="34" charset="0"/>
                          <a:cs typeface="Arial"/>
                          <a:sym typeface="Arial"/>
                        </a:rPr>
                        <a:t>0</a:t>
                      </a:r>
                      <a:endParaRPr lang="en-IN" sz="1100" b="0" i="0" u="none" strike="noStrike" cap="none">
                        <a:solidFill>
                          <a:srgbClr val="000000"/>
                        </a:solidFill>
                        <a:effectLst/>
                        <a:latin typeface="Arial"/>
                        <a:ea typeface="Times New Roman" panose="02020603050405020304" pitchFamily="18" charset="0"/>
                        <a:cs typeface="Arial"/>
                        <a:sym typeface="Arial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0668765"/>
                  </a:ext>
                </a:extLst>
              </a:tr>
              <a:tr h="249381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Sahiwal</a:t>
                      </a:r>
                      <a:endParaRPr lang="en-IN" sz="1100" b="0" i="0" u="none" strike="noStrike" cap="none">
                        <a:solidFill>
                          <a:srgbClr val="000000"/>
                        </a:solidFill>
                        <a:effectLst/>
                        <a:latin typeface="Arial"/>
                        <a:ea typeface="Times New Roman" panose="02020603050405020304" pitchFamily="18" charset="0"/>
                        <a:cs typeface="Arial"/>
                        <a:sym typeface="Arial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Calibri" panose="020F0502020204030204" pitchFamily="34" charset="0"/>
                          <a:cs typeface="Arial"/>
                          <a:sym typeface="Arial"/>
                        </a:rPr>
                        <a:t>1004</a:t>
                      </a:r>
                      <a:endParaRPr lang="en-IN" sz="1100" b="0" i="0" u="none" strike="noStrike" cap="none">
                        <a:solidFill>
                          <a:srgbClr val="000000"/>
                        </a:solidFill>
                        <a:effectLst/>
                        <a:latin typeface="Arial"/>
                        <a:ea typeface="Calibri" panose="020F0502020204030204" pitchFamily="34" charset="0"/>
                        <a:cs typeface="Arial"/>
                        <a:sym typeface="Arial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Calibri" panose="020F0502020204030204" pitchFamily="34" charset="0"/>
                          <a:cs typeface="Arial"/>
                          <a:sym typeface="Arial"/>
                        </a:rPr>
                        <a:t>27</a:t>
                      </a:r>
                      <a:endParaRPr lang="en-IN" sz="1100" b="0" i="0" u="none" strike="noStrike" cap="none">
                        <a:solidFill>
                          <a:srgbClr val="000000"/>
                        </a:solidFill>
                        <a:effectLst/>
                        <a:latin typeface="Arial"/>
                        <a:ea typeface="Calibri" panose="020F0502020204030204" pitchFamily="34" charset="0"/>
                        <a:cs typeface="Arial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Calibri" panose="020F0502020204030204" pitchFamily="34" charset="0"/>
                          <a:cs typeface="Arial"/>
                          <a:sym typeface="Arial"/>
                        </a:rPr>
                        <a:t>138</a:t>
                      </a:r>
                      <a:endParaRPr lang="en-IN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Times New Roman" panose="02020603050405020304" pitchFamily="18" charset="0"/>
                        <a:cs typeface="Arial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Calibri" panose="020F0502020204030204" pitchFamily="34" charset="0"/>
                          <a:cs typeface="Arial"/>
                          <a:sym typeface="Arial"/>
                        </a:rPr>
                        <a:t>839</a:t>
                      </a:r>
                      <a:endParaRPr lang="en-IN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Times New Roman" panose="02020603050405020304" pitchFamily="18" charset="0"/>
                        <a:cs typeface="Arial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Calibri" panose="020F0502020204030204" pitchFamily="34" charset="0"/>
                          <a:cs typeface="Arial"/>
                          <a:sym typeface="Arial"/>
                        </a:rPr>
                        <a:t>161</a:t>
                      </a:r>
                      <a:endParaRPr lang="en-IN" sz="1100" b="0" i="0" u="none" strike="noStrike" cap="none">
                        <a:solidFill>
                          <a:srgbClr val="000000"/>
                        </a:solidFill>
                        <a:effectLst/>
                        <a:latin typeface="Arial"/>
                        <a:ea typeface="Times New Roman" panose="02020603050405020304" pitchFamily="18" charset="0"/>
                        <a:cs typeface="Arial"/>
                        <a:sym typeface="Arial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9668277"/>
                  </a:ext>
                </a:extLst>
              </a:tr>
              <a:tr h="249381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Kankrej</a:t>
                      </a:r>
                      <a:endParaRPr lang="en-IN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Times New Roman" panose="02020603050405020304" pitchFamily="18" charset="0"/>
                        <a:cs typeface="Arial"/>
                        <a:sym typeface="Arial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Calibri" panose="020F0502020204030204" pitchFamily="34" charset="0"/>
                          <a:cs typeface="Arial"/>
                          <a:sym typeface="Arial"/>
                        </a:rPr>
                        <a:t>927</a:t>
                      </a:r>
                      <a:endParaRPr lang="en-IN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Calibri" panose="020F0502020204030204" pitchFamily="34" charset="0"/>
                        <a:cs typeface="Arial"/>
                        <a:sym typeface="Arial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Calibri" panose="020F0502020204030204" pitchFamily="34" charset="0"/>
                          <a:cs typeface="Arial"/>
                          <a:sym typeface="Arial"/>
                        </a:rPr>
                        <a:t>40</a:t>
                      </a:r>
                      <a:endParaRPr lang="en-IN" sz="1100" b="0" i="0" u="none" strike="noStrike" cap="none">
                        <a:solidFill>
                          <a:srgbClr val="000000"/>
                        </a:solidFill>
                        <a:effectLst/>
                        <a:latin typeface="Arial"/>
                        <a:ea typeface="Calibri" panose="020F0502020204030204" pitchFamily="34" charset="0"/>
                        <a:cs typeface="Arial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Calibri" panose="020F0502020204030204" pitchFamily="34" charset="0"/>
                          <a:cs typeface="Arial"/>
                          <a:sym typeface="Arial"/>
                        </a:rPr>
                        <a:t>163</a:t>
                      </a:r>
                      <a:endParaRPr lang="en-IN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Times New Roman" panose="02020603050405020304" pitchFamily="18" charset="0"/>
                        <a:cs typeface="Arial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Calibri" panose="020F0502020204030204" pitchFamily="34" charset="0"/>
                          <a:cs typeface="Arial"/>
                          <a:sym typeface="Arial"/>
                        </a:rPr>
                        <a:t>724</a:t>
                      </a:r>
                      <a:endParaRPr lang="en-IN" sz="1100" b="0" i="0" u="none" strike="noStrike" cap="none">
                        <a:solidFill>
                          <a:srgbClr val="000000"/>
                        </a:solidFill>
                        <a:effectLst/>
                        <a:latin typeface="Arial"/>
                        <a:ea typeface="Times New Roman" panose="02020603050405020304" pitchFamily="18" charset="0"/>
                        <a:cs typeface="Arial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Calibri" panose="020F0502020204030204" pitchFamily="34" charset="0"/>
                          <a:cs typeface="Arial"/>
                          <a:sym typeface="Arial"/>
                        </a:rPr>
                        <a:t>0</a:t>
                      </a:r>
                      <a:endParaRPr lang="en-IN" sz="1100" b="0" i="0" u="none" strike="noStrike" cap="none">
                        <a:solidFill>
                          <a:srgbClr val="000000"/>
                        </a:solidFill>
                        <a:effectLst/>
                        <a:latin typeface="Arial"/>
                        <a:ea typeface="Times New Roman" panose="02020603050405020304" pitchFamily="18" charset="0"/>
                        <a:cs typeface="Arial"/>
                        <a:sym typeface="Arial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997913"/>
                  </a:ext>
                </a:extLst>
              </a:tr>
              <a:tr h="249381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Tharparkar</a:t>
                      </a:r>
                      <a:endParaRPr lang="en-IN" sz="1100" b="0" i="0" u="none" strike="noStrike" cap="none">
                        <a:solidFill>
                          <a:srgbClr val="000000"/>
                        </a:solidFill>
                        <a:effectLst/>
                        <a:latin typeface="Arial"/>
                        <a:ea typeface="Times New Roman" panose="02020603050405020304" pitchFamily="18" charset="0"/>
                        <a:cs typeface="Arial"/>
                        <a:sym typeface="Arial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Calibri" panose="020F0502020204030204" pitchFamily="34" charset="0"/>
                          <a:cs typeface="Arial"/>
                          <a:sym typeface="Arial"/>
                        </a:rPr>
                        <a:t>505</a:t>
                      </a:r>
                      <a:endParaRPr lang="en-IN" sz="1100" b="0" i="0" u="none" strike="noStrike" cap="none">
                        <a:solidFill>
                          <a:srgbClr val="000000"/>
                        </a:solidFill>
                        <a:effectLst/>
                        <a:latin typeface="Arial"/>
                        <a:ea typeface="Calibri" panose="020F0502020204030204" pitchFamily="34" charset="0"/>
                        <a:cs typeface="Arial"/>
                        <a:sym typeface="Arial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Calibri" panose="020F0502020204030204" pitchFamily="34" charset="0"/>
                          <a:cs typeface="Arial"/>
                          <a:sym typeface="Arial"/>
                        </a:rPr>
                        <a:t>28</a:t>
                      </a:r>
                      <a:endParaRPr lang="en-IN" sz="1100" b="0" i="0" u="none" strike="noStrike" cap="none">
                        <a:solidFill>
                          <a:srgbClr val="000000"/>
                        </a:solidFill>
                        <a:effectLst/>
                        <a:latin typeface="Arial"/>
                        <a:ea typeface="Calibri" panose="020F0502020204030204" pitchFamily="34" charset="0"/>
                        <a:cs typeface="Arial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Calibri" panose="020F0502020204030204" pitchFamily="34" charset="0"/>
                          <a:cs typeface="Arial"/>
                          <a:sym typeface="Arial"/>
                        </a:rPr>
                        <a:t>11</a:t>
                      </a:r>
                      <a:endParaRPr lang="en-IN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Times New Roman" panose="02020603050405020304" pitchFamily="18" charset="0"/>
                        <a:cs typeface="Arial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Calibri" panose="020F0502020204030204" pitchFamily="34" charset="0"/>
                          <a:cs typeface="Arial"/>
                          <a:sym typeface="Arial"/>
                        </a:rPr>
                        <a:t>466</a:t>
                      </a:r>
                      <a:endParaRPr lang="en-IN" sz="1100" b="0" i="0" u="none" strike="noStrike" cap="none">
                        <a:solidFill>
                          <a:srgbClr val="000000"/>
                        </a:solidFill>
                        <a:effectLst/>
                        <a:latin typeface="Arial"/>
                        <a:ea typeface="Times New Roman" panose="02020603050405020304" pitchFamily="18" charset="0"/>
                        <a:cs typeface="Arial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Calibri" panose="020F0502020204030204" pitchFamily="34" charset="0"/>
                          <a:cs typeface="Arial"/>
                          <a:sym typeface="Arial"/>
                        </a:rPr>
                        <a:t>0</a:t>
                      </a:r>
                      <a:endParaRPr lang="en-IN" sz="1100" b="0" i="0" u="none" strike="noStrike" cap="none">
                        <a:solidFill>
                          <a:srgbClr val="000000"/>
                        </a:solidFill>
                        <a:effectLst/>
                        <a:latin typeface="Arial"/>
                        <a:ea typeface="Times New Roman" panose="02020603050405020304" pitchFamily="18" charset="0"/>
                        <a:cs typeface="Arial"/>
                        <a:sym typeface="Arial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658896"/>
                  </a:ext>
                </a:extLst>
              </a:tr>
              <a:tr h="249381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Ongole</a:t>
                      </a:r>
                      <a:endParaRPr lang="en-IN" sz="1100" b="0" i="0" u="none" strike="noStrike" cap="none">
                        <a:solidFill>
                          <a:srgbClr val="000000"/>
                        </a:solidFill>
                        <a:effectLst/>
                        <a:latin typeface="Arial"/>
                        <a:ea typeface="Times New Roman" panose="02020603050405020304" pitchFamily="18" charset="0"/>
                        <a:cs typeface="Arial"/>
                        <a:sym typeface="Arial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Calibri" panose="020F0502020204030204" pitchFamily="34" charset="0"/>
                          <a:cs typeface="Arial"/>
                          <a:sym typeface="Arial"/>
                        </a:rPr>
                        <a:t>447</a:t>
                      </a:r>
                      <a:endParaRPr lang="en-IN" sz="1100" b="0" i="0" u="none" strike="noStrike" cap="none">
                        <a:solidFill>
                          <a:srgbClr val="000000"/>
                        </a:solidFill>
                        <a:effectLst/>
                        <a:latin typeface="Arial"/>
                        <a:ea typeface="Calibri" panose="020F0502020204030204" pitchFamily="34" charset="0"/>
                        <a:cs typeface="Arial"/>
                        <a:sym typeface="Arial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Calibri" panose="020F0502020204030204" pitchFamily="34" charset="0"/>
                          <a:cs typeface="Arial"/>
                          <a:sym typeface="Arial"/>
                        </a:rPr>
                        <a:t>205</a:t>
                      </a:r>
                      <a:endParaRPr lang="en-IN" sz="1100" b="0" i="0" u="none" strike="noStrike" cap="none">
                        <a:solidFill>
                          <a:srgbClr val="000000"/>
                        </a:solidFill>
                        <a:effectLst/>
                        <a:latin typeface="Arial"/>
                        <a:ea typeface="Calibri" panose="020F0502020204030204" pitchFamily="34" charset="0"/>
                        <a:cs typeface="Arial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Calibri" panose="020F0502020204030204" pitchFamily="34" charset="0"/>
                          <a:cs typeface="Arial"/>
                          <a:sym typeface="Arial"/>
                        </a:rPr>
                        <a:t>235</a:t>
                      </a:r>
                      <a:endParaRPr lang="en-IN" sz="1100" b="0" i="0" u="none" strike="noStrike" cap="none">
                        <a:solidFill>
                          <a:srgbClr val="000000"/>
                        </a:solidFill>
                        <a:effectLst/>
                        <a:latin typeface="Arial"/>
                        <a:ea typeface="Times New Roman" panose="02020603050405020304" pitchFamily="18" charset="0"/>
                        <a:cs typeface="Arial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Calibri" panose="020F0502020204030204" pitchFamily="34" charset="0"/>
                          <a:cs typeface="Arial"/>
                          <a:sym typeface="Arial"/>
                        </a:rPr>
                        <a:t>7</a:t>
                      </a:r>
                      <a:endParaRPr lang="en-IN" sz="1100" b="0" i="0" u="none" strike="noStrike" cap="none">
                        <a:solidFill>
                          <a:srgbClr val="000000"/>
                        </a:solidFill>
                        <a:effectLst/>
                        <a:latin typeface="Arial"/>
                        <a:ea typeface="Times New Roman" panose="02020603050405020304" pitchFamily="18" charset="0"/>
                        <a:cs typeface="Arial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Calibri" panose="020F0502020204030204" pitchFamily="34" charset="0"/>
                          <a:cs typeface="Arial"/>
                          <a:sym typeface="Arial"/>
                        </a:rPr>
                        <a:t>0</a:t>
                      </a:r>
                      <a:endParaRPr lang="en-IN" sz="1100" b="0" i="0" u="none" strike="noStrike" cap="none">
                        <a:solidFill>
                          <a:srgbClr val="000000"/>
                        </a:solidFill>
                        <a:effectLst/>
                        <a:latin typeface="Arial"/>
                        <a:ea typeface="Times New Roman" panose="02020603050405020304" pitchFamily="18" charset="0"/>
                        <a:cs typeface="Arial"/>
                        <a:sym typeface="Arial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963122"/>
                  </a:ext>
                </a:extLst>
              </a:tr>
              <a:tr h="249381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Total</a:t>
                      </a:r>
                      <a:endParaRPr lang="en-IN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Times New Roman" panose="02020603050405020304" pitchFamily="18" charset="0"/>
                        <a:cs typeface="Arial"/>
                        <a:sym typeface="Arial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Calibri" panose="020F0502020204030204" pitchFamily="34" charset="0"/>
                          <a:cs typeface="Arial"/>
                          <a:sym typeface="Arial"/>
                        </a:rPr>
                        <a:t>3904</a:t>
                      </a:r>
                      <a:endParaRPr lang="en-IN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Calibri" panose="020F0502020204030204" pitchFamily="34" charset="0"/>
                        <a:cs typeface="Arial"/>
                        <a:sym typeface="Arial"/>
                      </a:endParaRPr>
                    </a:p>
                  </a:txBody>
                  <a:tcPr marL="68580" marR="6858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Calibri" panose="020F0502020204030204" pitchFamily="34" charset="0"/>
                          <a:cs typeface="Arial"/>
                          <a:sym typeface="Arial"/>
                        </a:rPr>
                        <a:t>421</a:t>
                      </a:r>
                      <a:endParaRPr lang="en-IN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Calibri" panose="020F0502020204030204" pitchFamily="34" charset="0"/>
                        <a:cs typeface="Arial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Calibri" panose="020F0502020204030204" pitchFamily="34" charset="0"/>
                          <a:cs typeface="Arial"/>
                          <a:sym typeface="Arial"/>
                        </a:rPr>
                        <a:t>923</a:t>
                      </a:r>
                      <a:endParaRPr lang="en-IN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Times New Roman" panose="02020603050405020304" pitchFamily="18" charset="0"/>
                        <a:cs typeface="Arial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Calibri" panose="020F0502020204030204" pitchFamily="34" charset="0"/>
                          <a:cs typeface="Arial"/>
                          <a:sym typeface="Arial"/>
                        </a:rPr>
                        <a:t>2560</a:t>
                      </a:r>
                      <a:endParaRPr lang="en-IN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Times New Roman" panose="02020603050405020304" pitchFamily="18" charset="0"/>
                        <a:cs typeface="Arial"/>
                        <a:sym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Calibri" panose="020F0502020204030204" pitchFamily="34" charset="0"/>
                          <a:cs typeface="Arial"/>
                          <a:sym typeface="Arial"/>
                        </a:rPr>
                        <a:t>161</a:t>
                      </a:r>
                      <a:endParaRPr lang="en-IN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Times New Roman" panose="02020603050405020304" pitchFamily="18" charset="0"/>
                        <a:cs typeface="Arial"/>
                        <a:sym typeface="Arial"/>
                      </a:endParaRPr>
                    </a:p>
                  </a:txBody>
                  <a:tcPr marL="68580" marR="6858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268841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88532A4F-025B-9F07-9A44-415537A251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20" y="697718"/>
            <a:ext cx="4036344" cy="58937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E8DE9E-C72A-6210-A163-4160F739A9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5790" y="859146"/>
            <a:ext cx="4147381" cy="5893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139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E6378-C03C-DE52-827B-F85594346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A4CDB3C-F714-D5E2-C0DF-CB8658409075}"/>
              </a:ext>
            </a:extLst>
          </p:cNvPr>
          <p:cNvSpPr/>
          <p:nvPr/>
        </p:nvSpPr>
        <p:spPr>
          <a:xfrm>
            <a:off x="0" y="0"/>
            <a:ext cx="12192000" cy="463304"/>
          </a:xfrm>
          <a:prstGeom prst="rect">
            <a:avLst/>
          </a:prstGeom>
          <a:solidFill>
            <a:schemeClr val="accent5">
              <a:lumMod val="50000"/>
            </a:schemeClr>
          </a:solidFill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ML Models for Breed Identification </a:t>
            </a: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BFB6152C-68E1-83C1-C0C4-F7E47CF250A0}"/>
              </a:ext>
            </a:extLst>
          </p:cNvPr>
          <p:cNvSpPr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08080"/>
                </a:solidFill>
              </a:rPr>
              <a:t>3</a:t>
            </a:r>
            <a:endParaRPr lang="en-US" sz="7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35A75C2-F3F4-2E23-B7E8-1E202EBB07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3237" y="995119"/>
            <a:ext cx="6111642" cy="46047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5C5BCBB-2849-A81C-0741-79306CFEB0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371" y="3819541"/>
            <a:ext cx="3994696" cy="282814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41C59C6-7D7A-25BF-BF6B-5D446A02BA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912" y="857129"/>
            <a:ext cx="3342985" cy="2689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102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7BCF2-2643-0018-CC6C-58CA40F4B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012F155-0570-D81E-4135-8D9F87ECC10A}"/>
              </a:ext>
            </a:extLst>
          </p:cNvPr>
          <p:cNvSpPr/>
          <p:nvPr/>
        </p:nvSpPr>
        <p:spPr>
          <a:xfrm>
            <a:off x="0" y="0"/>
            <a:ext cx="12192000" cy="463304"/>
          </a:xfrm>
          <a:prstGeom prst="rect">
            <a:avLst/>
          </a:prstGeom>
          <a:solidFill>
            <a:schemeClr val="accent5">
              <a:lumMod val="50000"/>
            </a:schemeClr>
          </a:solidFill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ML Models Breed Composition </a:t>
            </a: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98C840BD-43C5-F466-0403-2EF706AFAA74}"/>
              </a:ext>
            </a:extLst>
          </p:cNvPr>
          <p:cNvSpPr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08080"/>
                </a:solidFill>
              </a:rPr>
              <a:t>3</a:t>
            </a:r>
            <a:endParaRPr lang="en-US" sz="7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39EF8BC-BDAE-AB43-BAB2-47CEE616E8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74" r="36813" b="3250"/>
          <a:stretch>
            <a:fillRect/>
          </a:stretch>
        </p:blipFill>
        <p:spPr>
          <a:xfrm>
            <a:off x="6967057" y="4125334"/>
            <a:ext cx="4600103" cy="2380864"/>
          </a:xfrm>
          <a:prstGeom prst="rect">
            <a:avLst/>
          </a:prstGeom>
          <a:ln>
            <a:solidFill>
              <a:srgbClr val="0096FF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1DA235B-2F3F-D6E8-F27C-9DD1EC8661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1222" y="1014390"/>
            <a:ext cx="5015350" cy="258163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D8C6888-E161-AC30-2A77-E4817CF815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665" y="776642"/>
            <a:ext cx="3483015" cy="27467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BA96EEA-D60C-779E-AE7B-FA132D169B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6352" y="4103562"/>
            <a:ext cx="2977184" cy="242440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4383207-4C02-34F1-E6DB-7FB173D670C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" y="3964454"/>
            <a:ext cx="3346831" cy="248206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602DA92-233E-AD39-F2C1-CAEC3A5024D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24140" y="1176585"/>
            <a:ext cx="2719956" cy="1709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5337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>
          <a:extLst>
            <a:ext uri="{FF2B5EF4-FFF2-40B4-BE49-F238E27FC236}">
              <a16:creationId xmlns:a16="http://schemas.microsoft.com/office/drawing/2014/main" id="{EC961156-BBC6-4EF8-9589-20FCFA74F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66818C60-6482-4C2A-483E-666DB9F0663A}"/>
              </a:ext>
            </a:extLst>
          </p:cNvPr>
          <p:cNvSpPr txBox="1"/>
          <p:nvPr/>
        </p:nvSpPr>
        <p:spPr>
          <a:xfrm>
            <a:off x="759205" y="713542"/>
            <a:ext cx="10905688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1800" b="1" dirty="0"/>
              <a:t>Objective 1: </a:t>
            </a:r>
            <a:endParaRPr lang="en-IN" sz="1800" b="1" dirty="0"/>
          </a:p>
          <a:p>
            <a:pPr marL="171450" lvl="1" indent="-171450" algn="just">
              <a:buFont typeface="Arial" panose="020B0604020202020204" pitchFamily="34" charset="0"/>
              <a:buChar char="•"/>
            </a:pPr>
            <a:r>
              <a:rPr lang="en-US" sz="1800" dirty="0"/>
              <a:t>Breed composition was revealed for each individual, and the identified Pure reference population (421), Predominant (923), Admixture (2560), and highly admixed (161).</a:t>
            </a:r>
            <a:endParaRPr lang="en-IN" sz="1800" dirty="0"/>
          </a:p>
          <a:p>
            <a:pPr marL="171450" lvl="1" indent="-171450" algn="just">
              <a:buFont typeface="Arial" panose="020B0604020202020204" pitchFamily="34" charset="0"/>
              <a:buChar char="•"/>
            </a:pPr>
            <a:r>
              <a:rPr lang="en-US" sz="1800" b="1" dirty="0"/>
              <a:t>GAU-AI: </a:t>
            </a:r>
            <a:r>
              <a:rPr lang="en-US" sz="1800" dirty="0"/>
              <a:t>ML-enabled breed identification and breed composition prediction platform (</a:t>
            </a:r>
            <a:r>
              <a:rPr lang="en-US" sz="1800" dirty="0">
                <a:hlinkClick r:id="rId3"/>
              </a:rPr>
              <a:t>https://github.com/bioinfokushwaha/GAU-AI</a:t>
            </a:r>
            <a:r>
              <a:rPr lang="en-US" sz="1800" dirty="0"/>
              <a:t>)</a:t>
            </a:r>
          </a:p>
          <a:p>
            <a:pPr marL="171450" lvl="1" indent="-171450" algn="just">
              <a:buFont typeface="Arial" panose="020B0604020202020204" pitchFamily="34" charset="0"/>
              <a:buChar char="•"/>
            </a:pPr>
            <a:r>
              <a:rPr lang="en-US" sz="1800" dirty="0"/>
              <a:t>Genomic services for b</a:t>
            </a:r>
            <a:r>
              <a:rPr lang="en-IN" sz="1800" dirty="0"/>
              <a:t>reed authentication: breed identification, breed composition and breed purity</a:t>
            </a:r>
          </a:p>
          <a:p>
            <a:pPr lvl="0"/>
            <a:endParaRPr lang="en-US" sz="1800" b="1" dirty="0"/>
          </a:p>
          <a:p>
            <a:pPr lvl="0"/>
            <a:endParaRPr lang="en-US" sz="1800" b="1" dirty="0"/>
          </a:p>
          <a:p>
            <a:pPr lvl="0"/>
            <a:r>
              <a:rPr lang="en-US" sz="1800" b="1" dirty="0"/>
              <a:t>Objective 2: </a:t>
            </a:r>
            <a:endParaRPr lang="en-IN" sz="1800" b="1" dirty="0"/>
          </a:p>
          <a:p>
            <a:pPr marL="171450" lvl="1" indent="-171450" algn="just">
              <a:buFont typeface="Arial" panose="020B0604020202020204" pitchFamily="34" charset="0"/>
              <a:buChar char="•"/>
            </a:pPr>
            <a:r>
              <a:rPr lang="en-US" sz="1800" dirty="0"/>
              <a:t>Identified high confidence 7567 SNPs </a:t>
            </a:r>
            <a:endParaRPr lang="en-IN" sz="1800" dirty="0"/>
          </a:p>
          <a:p>
            <a:pPr marL="171450" lvl="1" indent="-171450" algn="just">
              <a:buFont typeface="Arial" panose="020B0604020202020204" pitchFamily="34" charset="0"/>
              <a:buChar char="•"/>
            </a:pPr>
            <a:r>
              <a:rPr lang="en-US" sz="1800" dirty="0"/>
              <a:t>Identified link to mammary gland development and metabolic pathways</a:t>
            </a:r>
            <a:endParaRPr lang="en-IN" sz="1800" dirty="0"/>
          </a:p>
          <a:p>
            <a:pPr marL="171450" lvl="1" indent="-171450" algn="just">
              <a:buFont typeface="Arial" panose="020B0604020202020204" pitchFamily="34" charset="0"/>
              <a:buChar char="•"/>
            </a:pPr>
            <a:r>
              <a:rPr lang="en-US" sz="1800" dirty="0"/>
              <a:t>Validated fat metabolism-associated SNPs in high and low milking breeds using </a:t>
            </a:r>
            <a:r>
              <a:rPr lang="en-US" sz="1800" dirty="0" err="1"/>
              <a:t>Pyromark</a:t>
            </a:r>
            <a:r>
              <a:rPr lang="en-US" sz="1800" dirty="0"/>
              <a:t> Q48.</a:t>
            </a:r>
          </a:p>
          <a:p>
            <a:pPr marL="171450" lvl="1" indent="-171450" algn="just">
              <a:buFont typeface="Arial" panose="020B0604020202020204" pitchFamily="34" charset="0"/>
              <a:buChar char="•"/>
            </a:pPr>
            <a:r>
              <a:rPr lang="en-US" sz="1800" b="1" dirty="0"/>
              <a:t>GAU-Net: </a:t>
            </a:r>
            <a:r>
              <a:rPr lang="en-US" sz="1800" dirty="0"/>
              <a:t>Animal health and production 	data collection portal (</a:t>
            </a:r>
            <a:r>
              <a:rPr lang="en-US" sz="1800" dirty="0">
                <a:hlinkClick r:id="rId4"/>
              </a:rPr>
              <a:t>https://bioinfo.niab.org.in/GAUNet</a:t>
            </a:r>
            <a:r>
              <a:rPr lang="en-US" sz="1800" dirty="0"/>
              <a:t> )</a:t>
            </a:r>
            <a:endParaRPr lang="en-US" sz="1800" b="1" dirty="0"/>
          </a:p>
          <a:p>
            <a:pPr lvl="0"/>
            <a:endParaRPr lang="en-US" sz="1800" b="1" dirty="0"/>
          </a:p>
          <a:p>
            <a:pPr lvl="0"/>
            <a:endParaRPr lang="en-US" sz="1800" b="1" dirty="0"/>
          </a:p>
          <a:p>
            <a:pPr lvl="0"/>
            <a:r>
              <a:rPr lang="en-US" sz="1800" b="1" dirty="0"/>
              <a:t>Objective 3:</a:t>
            </a:r>
            <a:endParaRPr lang="en-IN" sz="1800" b="1" dirty="0"/>
          </a:p>
          <a:p>
            <a:pPr marL="171450" lvl="1" indent="-171450" algn="just">
              <a:buFont typeface="Arial" panose="020B0604020202020204" pitchFamily="34" charset="0"/>
              <a:buChar char="•"/>
            </a:pPr>
            <a:r>
              <a:rPr lang="en-IN" sz="1800" dirty="0"/>
              <a:t>Overall average imputation accuracy 83%; Tharparkar ( 90%), Kankrej (85%) and Sahiwal (74%). </a:t>
            </a:r>
          </a:p>
          <a:p>
            <a:pPr marL="171450" lvl="1" indent="-171450" algn="just">
              <a:buFont typeface="Arial" panose="020B0604020202020204" pitchFamily="34" charset="0"/>
              <a:buChar char="•"/>
            </a:pPr>
            <a:r>
              <a:rPr lang="en-IN" sz="1800" dirty="0"/>
              <a:t>Establishment of a cost-effective strategy for genomic improvement of indigenous cattle</a:t>
            </a:r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4681E346-A64C-D578-A7E6-DEA69D7556F0}"/>
              </a:ext>
            </a:extLst>
          </p:cNvPr>
          <p:cNvSpPr/>
          <p:nvPr/>
        </p:nvSpPr>
        <p:spPr>
          <a:xfrm>
            <a:off x="0" y="0"/>
            <a:ext cx="12192000" cy="463304"/>
          </a:xfrm>
          <a:prstGeom prst="rect">
            <a:avLst/>
          </a:prstGeom>
          <a:solidFill>
            <a:schemeClr val="accent5">
              <a:lumMod val="50000"/>
            </a:schemeClr>
          </a:solidFill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Outcome Snapshot </a:t>
            </a:r>
            <a:endParaRPr lang="en-US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29440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4496</TotalTime>
  <Words>399</Words>
  <Application>Microsoft Office PowerPoint</Application>
  <PresentationFormat>Widescreen</PresentationFormat>
  <Paragraphs>129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Cooper Black</vt:lpstr>
      <vt:lpstr>Arial</vt:lpstr>
      <vt:lpstr>Times New Roman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Priyanka Dutta</dc:creator>
  <cp:lastModifiedBy>sandeep Kushwaha</cp:lastModifiedBy>
  <cp:revision>97</cp:revision>
  <dcterms:created xsi:type="dcterms:W3CDTF">2022-11-23T14:22:17Z</dcterms:created>
  <dcterms:modified xsi:type="dcterms:W3CDTF">2026-09-25T09:00:01Z</dcterms:modified>
</cp:coreProperties>
</file>